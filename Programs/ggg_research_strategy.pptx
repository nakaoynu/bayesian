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4f3e6d71f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4f3e6d71f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showMasterSp="0" type="title">
  <p:cSld name="TITLE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9144000" cy="4181400"/>
          </a:xfrm>
          <a:prstGeom prst="rect">
            <a:avLst/>
          </a:prstGeom>
          <a:solidFill>
            <a:srgbClr val="CC0033"/>
          </a:solidFill>
          <a:ln cap="flat" cmpd="sng" w="19050">
            <a:solidFill>
              <a:srgbClr val="612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7383794" y="4822032"/>
            <a:ext cx="15774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February 6, 2026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2215410" y="1321597"/>
            <a:ext cx="47148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215410" y="3072480"/>
            <a:ext cx="47148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1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lvl="2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lvl="5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lvl="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lvl="7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lvl="8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751014" y="35719"/>
            <a:ext cx="5642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04800" y="519113"/>
            <a:ext cx="8534400" cy="4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682680" y="4827333"/>
            <a:ext cx="23433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liederung">
  <p:cSld name="Gliederung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751014" y="35719"/>
            <a:ext cx="5642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04800" y="519113"/>
            <a:ext cx="8534400" cy="4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  <a:defRPr/>
            </a:lvl1pPr>
            <a:lvl2pPr indent="-31750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–"/>
              <a:defRPr/>
            </a:lvl2pPr>
            <a:lvl3pPr indent="-29845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  <a:defRPr/>
            </a:lvl3pPr>
            <a:lvl4pPr indent="-28575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–"/>
              <a:defRPr/>
            </a:lvl4pPr>
            <a:lvl5pPr indent="-2794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645022" y="4863128"/>
            <a:ext cx="2343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500" u="none" cap="none" strike="noStrike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500" u="none" cap="none" strike="noStrike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500" u="none" cap="none" strike="noStrike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500" u="none" cap="none" strike="noStrike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500" u="none" cap="none" strike="noStrike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500" u="none" cap="none" strike="noStrike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500" u="none" cap="none" strike="noStrike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500" u="none" cap="none" strike="noStrike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500" u="none" cap="none" strike="noStrike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1pPr>
            <a:lvl2pPr indent="-22860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645022" y="4863128"/>
            <a:ext cx="2343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751014" y="35719"/>
            <a:ext cx="5642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645022" y="4863128"/>
            <a:ext cx="2343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6645022" y="4863128"/>
            <a:ext cx="2343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1" y="897564"/>
            <a:ext cx="3008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575050" y="897565"/>
            <a:ext cx="51117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619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sz="2100"/>
            </a:lvl2pPr>
            <a:lvl3pPr indent="-3429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238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–"/>
              <a:defRPr sz="1500"/>
            </a:lvl4pPr>
            <a:lvl5pPr indent="-32385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457201" y="1437625"/>
            <a:ext cx="3008400" cy="3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3pPr>
            <a:lvl4pPr indent="-228600" lvl="3" marL="18288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4pPr>
            <a:lvl5pPr indent="-228600" lvl="4" marL="22860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6645022" y="4863128"/>
            <a:ext cx="2343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9"/>
          <p:cNvSpPr/>
          <p:nvPr>
            <p:ph idx="2" type="pic"/>
          </p:nvPr>
        </p:nvSpPr>
        <p:spPr>
          <a:xfrm>
            <a:off x="1792288" y="964395"/>
            <a:ext cx="5486400" cy="2581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3pPr>
            <a:lvl4pPr indent="-228600" lvl="3" marL="18288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4pPr>
            <a:lvl5pPr indent="-228600" lvl="4" marL="22860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6645022" y="4863128"/>
            <a:ext cx="2343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1751014" y="35719"/>
            <a:ext cx="5642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 rot="5400000">
            <a:off x="2437200" y="-1613287"/>
            <a:ext cx="4269600" cy="85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6645022" y="4863128"/>
            <a:ext cx="2343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縦書きテキスト" type="vertTitleAndTx">
  <p:cSld name="VERTICAL_TITLE_AND_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 rot="5400000">
            <a:off x="6044250" y="1683045"/>
            <a:ext cx="3589800" cy="21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 rot="5400000">
            <a:off x="1662750" y="-393405"/>
            <a:ext cx="3589800" cy="6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6645022" y="4863128"/>
            <a:ext cx="2343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>
              <a:spcBef>
                <a:spcPts val="300"/>
              </a:spcBef>
              <a:spcAft>
                <a:spcPts val="0"/>
              </a:spcAft>
              <a:buSzPts val="1500"/>
              <a:buChar char="•"/>
              <a:defRPr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298450" lvl="2" marL="1371600"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3pPr>
            <a:lvl4pPr indent="-285750" lvl="3" marL="1828800">
              <a:spcBef>
                <a:spcPts val="200"/>
              </a:spcBef>
              <a:spcAft>
                <a:spcPts val="0"/>
              </a:spcAft>
              <a:buSzPts val="900"/>
              <a:buChar char="–"/>
              <a:defRPr/>
            </a:lvl4pPr>
            <a:lvl5pPr indent="-279400" lvl="4" marL="2286000">
              <a:spcBef>
                <a:spcPts val="200"/>
              </a:spcBef>
              <a:spcAft>
                <a:spcPts val="0"/>
              </a:spcAft>
              <a:buSzPts val="800"/>
              <a:buChar char="»"/>
              <a:defRPr/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Char char="»"/>
              <a:defRPr/>
            </a:lvl6pPr>
            <a:lvl7pPr indent="-304800" lvl="6" marL="3200400">
              <a:spcBef>
                <a:spcPts val="200"/>
              </a:spcBef>
              <a:spcAft>
                <a:spcPts val="0"/>
              </a:spcAft>
              <a:buSzPts val="1200"/>
              <a:buChar char="»"/>
              <a:defRPr/>
            </a:lvl7pPr>
            <a:lvl8pPr indent="-304800" lvl="7" marL="3657600">
              <a:spcBef>
                <a:spcPts val="200"/>
              </a:spcBef>
              <a:spcAft>
                <a:spcPts val="0"/>
              </a:spcAft>
              <a:buSzPts val="1200"/>
              <a:buChar char="»"/>
              <a:defRPr/>
            </a:lvl8pPr>
            <a:lvl9pPr indent="-304800" lvl="8" marL="4114800">
              <a:spcBef>
                <a:spcPts val="200"/>
              </a:spcBef>
              <a:spcAft>
                <a:spcPts val="0"/>
              </a:spcAft>
              <a:buSzPts val="1200"/>
              <a:buChar char="»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871249"/>
            <a:ext cx="9144000" cy="272400"/>
          </a:xfrm>
          <a:prstGeom prst="rect">
            <a:avLst/>
          </a:prstGeom>
          <a:solidFill>
            <a:srgbClr val="CC0033"/>
          </a:solidFill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5000">
              <a:srgbClr val="000000">
                <a:alpha val="3803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0" y="2780"/>
            <a:ext cx="9144000" cy="433800"/>
          </a:xfrm>
          <a:prstGeom prst="rect">
            <a:avLst/>
          </a:prstGeom>
          <a:solidFill>
            <a:srgbClr val="CC0033"/>
          </a:solidFill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5000">
              <a:srgbClr val="000000">
                <a:alpha val="3803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751014" y="35719"/>
            <a:ext cx="5642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304800" y="519113"/>
            <a:ext cx="8534400" cy="4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17500" lvl="1" marL="9144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–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9845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8575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–"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794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»"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" name="Google Shape;10;p1"/>
          <p:cNvSpPr txBox="1"/>
          <p:nvPr/>
        </p:nvSpPr>
        <p:spPr>
          <a:xfrm>
            <a:off x="-1587" y="4929188"/>
            <a:ext cx="23433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Taichi Nakao</a:t>
            </a:r>
            <a:endParaRPr sz="1100"/>
          </a:p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682680" y="4827333"/>
            <a:ext cx="23433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1751014" y="35719"/>
            <a:ext cx="5642100" cy="320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解析方針</a:t>
            </a:r>
            <a:endParaRPr/>
          </a:p>
        </p:txBody>
      </p:sp>
      <p:pic>
        <p:nvPicPr>
          <p:cNvPr id="61" name="Google Shape;61;p13" title="BayesianInput_Raw_Transmittance_Tempera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400" y="487452"/>
            <a:ext cx="5175200" cy="31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3711650" y="756550"/>
            <a:ext cx="1949700" cy="24777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 flipH="1" rot="10800000">
            <a:off x="3884275" y="2286350"/>
            <a:ext cx="406800" cy="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/>
          <p:nvPr/>
        </p:nvCxnSpPr>
        <p:spPr>
          <a:xfrm flipH="1" rot="10800000">
            <a:off x="4884630" y="1844675"/>
            <a:ext cx="478800" cy="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3"/>
          <p:cNvSpPr/>
          <p:nvPr/>
        </p:nvSpPr>
        <p:spPr>
          <a:xfrm>
            <a:off x="2376325" y="735500"/>
            <a:ext cx="1167900" cy="2477700"/>
          </a:xfrm>
          <a:prstGeom prst="rect">
            <a:avLst/>
          </a:prstGeom>
          <a:noFill/>
          <a:ln cap="flat" cmpd="sng" w="28575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133350" y="3643350"/>
            <a:ext cx="3427200" cy="1058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赤色ボックス；高次共振器モード</a:t>
            </a:r>
            <a:b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尤度関数 p(D|\Theta)は半値全幅 FWHM (\omega, \Theta, weight_cav)で定める。\Thetaはベイズ推定するパラメータセット，weight_polaritonはこの領域内部の重み付けの割合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→共振器はFWHM</a:t>
            </a:r>
            <a:r>
              <a:rPr b="1"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だけ</a:t>
            </a:r>
            <a: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で推定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533475" y="3643350"/>
            <a:ext cx="3427200" cy="1058400"/>
          </a:xfrm>
          <a:prstGeom prst="rect">
            <a:avLst/>
          </a:prstGeom>
          <a:noFill/>
          <a:ln cap="flat" cmpd="sng" w="9525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青色ボックス；ポラリトンモード</a:t>
            </a:r>
            <a:b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尤度関数 p(D|\Theta)は透過率 T(\omega , \Theta, weight_polariton)で定める。\Thetaはベイズ推定するパラメータセット，weight_polaritonはこの領域内部の重み付けの割合</a:t>
            </a:r>
            <a:b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ポラリトンは領域内のスペクトル形状で推定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518425" y="1340450"/>
            <a:ext cx="776700" cy="338700"/>
          </a:xfrm>
          <a:prstGeom prst="rect">
            <a:avLst/>
          </a:prstGeom>
          <a:noFill/>
          <a:ln cap="flat" cmpd="sng" w="9525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T(\omega)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813275" y="2571750"/>
            <a:ext cx="776700" cy="338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\gamma[0]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4838950" y="2571750"/>
            <a:ext cx="776700" cy="338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\gamma[1]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ocomo">
  <a:themeElements>
    <a:clrScheme name="赤味がかったオレンジ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